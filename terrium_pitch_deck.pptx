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38344" y="548640"/>
            <a:ext cx="2103120" cy="1444752"/>
          </a:xfrm>
          <a:prstGeom prst="roundRect">
            <a:avLst>
              <a:gd name="adj" fmla="val 9494"/>
            </a:avLst>
          </a:prstGeom>
          <a:solidFill>
            <a:srgbClr val="F7F9F8"/>
          </a:solidFill>
          <a:ln/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685800"/>
            <a:ext cx="1828800" cy="1170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46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100" kern="0" dirty="0">
                <a:solidFill>
                  <a:srgbClr val="ECEF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terrium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4160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pipeline that </a:t>
            </a:r>
            <a:pPr algn="ctr" indent="0" marL="0">
              <a:buNone/>
            </a:pPr>
            <a:r>
              <a:rPr lang="en-US" sz="2000" i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science.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Pitch  |  July 2026  |  Smyan Reddy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labs are stuck between two bad options.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sx="100000" sy="100000" kx="0" ky="0" algn="bl" rotWithShape="0" blurRad="152400" dist="38100" dir="5400000">
              <a:srgbClr val="1A2E2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chat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ChatGPT/Claude answer confidently, cite nothing, and hallucinate constants a student has no way to check.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14884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sx="100000" sy="100000" kx="0" ky="0" algn="bl" rotWithShape="0" blurRad="152400" dist="38100" dir="5400000">
              <a:srgbClr val="1A2E2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simulation tools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28803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COPASI, NEURON, GROMACS work, but need a install, a syntax manual, and a TA who already knows the software.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buNone/>
            </a:pPr>
            <a:r>
              <a:rPr lang="en-US" sz="1700" i="1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either get answers they can't trust, or tools they can't use.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real question. Get a real, cited simulation.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7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Terrium resolves scientific parameters from the literature, runs the simulation in the browser, and shows every citation behind every number -- so a student asking “what's a typical Km for hexokinase” gets a real answer, checked, not guessed.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246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question, no syntax to learn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30632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2463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Literature-backed parameters, not invented ones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0632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246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6364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model checks the first before anything ships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732520" y="30632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2463C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61120" y="42062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live in the browser -- no install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0" y="4160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9B5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97880" y="4160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9B5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0" y="41605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D9B5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answer passes through six checks before a student sees it.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product moat: a different model checks the first model's claim before it ships, using a different provider so the same blind spot can't pass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14600"/>
            <a:ext cx="384048" cy="384048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4871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Model-Picker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of the six domains the question belongs 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514600"/>
            <a:ext cx="384048" cy="384048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24871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real parameter from BRENDA / KEGG / PubMed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514600"/>
            <a:ext cx="384048" cy="384048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496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0" y="24871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Hallucination-Check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75320" y="30632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model re-verifies the citation actually supports the claim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572000"/>
            <a:ext cx="384048" cy="384048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544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8680" y="5120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source's scope actually matches how it's being used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434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572000"/>
            <a:ext cx="384048" cy="384048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74920" y="4544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Correctness-Verification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72000" y="5120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Range-checks against known plausible bounds for that quantity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4340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4572000"/>
            <a:ext cx="384048" cy="384048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32" name="Text 30"/>
          <p:cNvSpPr/>
          <p:nvPr/>
        </p:nvSpPr>
        <p:spPr>
          <a:xfrm>
            <a:off x="8275320" y="45537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78240" y="4544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75320" y="5120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final answer -- forbidden from removing any flag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F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domains, one trust layer.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shares the same agent chain -- new domains are configuration, not new infrastructure.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246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Kinetics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Michaelis-Menten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0A1F1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2463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77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/ SEIR modeling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3566160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0A1F1C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35661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24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77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Amplification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 models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3566160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0A1F1C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5661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2463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simulation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5669280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0A1F1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6692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42519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2463C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Genetics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Hardy-Weinberg dynamics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5669280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0A1F1C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56692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2519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2463C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Dynamics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21040" y="4983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GROMACS setup-assist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21040" y="5669280"/>
            <a:ext cx="960120" cy="320040"/>
          </a:xfrm>
          <a:prstGeom prst="roundRect">
            <a:avLst>
              <a:gd name="adj" fmla="val 48571"/>
            </a:avLst>
          </a:prstGeom>
          <a:solidFill>
            <a:srgbClr val="0A1F1C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566928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literature and simulation layers are already built and tested.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97680" y="2103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29768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scientific bugs caught by mutation testing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0" y="2103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95528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trust-boundary bug found and fixed pre-launch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“verified” actually means here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simulated number is checked against a closed-form analytic solution or an independent solver (scipy), not against itself. When the literature layer flagged a Km value as implausible but the simulation layer's bound didn't match it, that gap -- a real hole in the trust boundary -- was caught before launch, not after a student hit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F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pieces this needed didn't all exist two years ago.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2463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8483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orchestration is finally cheap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different steps to different providers -- so one model can check another -- is only practical now that inference cost has fallen far enough to run six agents per question.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246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5935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scientific computing matured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Pyodide and WebAssembly make it realistic to run real ODE solvers client-side, removing the install/infrastructure burden that killed past classroom sim tools.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93776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2463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023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AI-in-the-classroom trust is the live debate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are actively deciding how much to trust AI tools right now -- landing with a citation-checked, teaching-scoped product ahead of that decision matters.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Undergraduate STEM labs are the wedge, not the ceiling.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206240" cy="4206240"/>
          </a:xfrm>
          <a:prstGeom prst="ellipse">
            <a:avLst/>
          </a:prstGeom>
          <a:solidFill>
            <a:srgbClr val="12463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926080"/>
            <a:ext cx="2926080" cy="2926080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6" name="Shape 4"/>
          <p:cNvSpPr/>
          <p:nvPr/>
        </p:nvSpPr>
        <p:spPr>
          <a:xfrm>
            <a:off x="2514600" y="3703320"/>
            <a:ext cx="1737360" cy="1737360"/>
          </a:xfrm>
          <a:prstGeom prst="ellipse">
            <a:avLst/>
          </a:prstGeom>
          <a:solidFill>
            <a:srgbClr val="5FD9B5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4370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2148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  </a:t>
            </a:r>
            <a:pPr indent="0" marL="0">
              <a:buNone/>
            </a:pPr>
            <a:r>
              <a:rPr lang="en-US" sz="17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~$2.1B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06640" y="24963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STEM lab &amp; simulation software spend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  </a:t>
            </a:r>
            <a:pPr indent="0" marL="0">
              <a:buNone/>
            </a:pPr>
            <a:r>
              <a:rPr lang="en-US" sz="17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~$180M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34107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US/UK computational-lab courses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0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  </a:t>
            </a:r>
            <a:pPr indent="0" marL="0">
              <a:buNone/>
            </a:pPr>
            <a:r>
              <a:rPr lang="en-US" sz="17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~$4-6M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06640" y="43251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via direct pilot outreach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our estimate from public university enrollment and ed-tech spending data; not third-party sourced.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USE...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CEF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deliberately not competing where the giants already win.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20240" cy="777240"/>
          </a:xfrm>
          <a:prstGeom prst="rect">
            <a:avLst/>
          </a:prstGeom>
          <a:solidFill>
            <a:srgbClr val="0A1F1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965960"/>
            <a:ext cx="3108960" cy="777240"/>
          </a:xfrm>
          <a:prstGeom prst="rect">
            <a:avLst/>
          </a:prstGeom>
          <a:solidFill>
            <a:srgbClr val="0A1F1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2011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965960"/>
            <a:ext cx="3108960" cy="777240"/>
          </a:xfrm>
          <a:prstGeom prst="rect">
            <a:avLst/>
          </a:prstGeom>
          <a:solidFill>
            <a:srgbClr val="0A1F1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2011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Science / general AI research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0" y="1965960"/>
            <a:ext cx="3108960" cy="777240"/>
          </a:xfrm>
          <a:prstGeom prst="rect">
            <a:avLst/>
          </a:prstGeom>
          <a:solidFill>
            <a:srgbClr val="0A1F1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201168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sim software (COPASI, GROMACS, NEURON)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192024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889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0" y="2743200"/>
            <a:ext cx="3108960" cy="777240"/>
          </a:xfrm>
          <a:prstGeom prst="rect">
            <a:avLst/>
          </a:prstGeom>
          <a:solidFill>
            <a:srgbClr val="12463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788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 teaching labs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274320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788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Biopharma &amp; computational-bio researchers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274320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2788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researchers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192024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66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60320" y="3520440"/>
            <a:ext cx="3108960" cy="777240"/>
          </a:xfrm>
          <a:prstGeom prst="rect">
            <a:avLst/>
          </a:prstGeom>
          <a:solidFill>
            <a:srgbClr val="12463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5661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in-browser, no install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352044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5661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own lab infrastructure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778240" y="352044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356616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install + config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297680"/>
            <a:ext cx="192024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343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560320" y="4297680"/>
            <a:ext cx="3108960" cy="777240"/>
          </a:xfrm>
          <a:prstGeom prst="rect">
            <a:avLst/>
          </a:prstGeom>
          <a:solidFill>
            <a:srgbClr val="12463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43434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Built-in, citation-checked by design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0" y="429768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43434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workbench, not classroom-scoped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78240" y="429768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43434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-- correctness is on the user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074920"/>
            <a:ext cx="192024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1206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60320" y="5074920"/>
            <a:ext cx="3108960" cy="777240"/>
          </a:xfrm>
          <a:prstGeom prst="rect">
            <a:avLst/>
          </a:prstGeom>
          <a:solidFill>
            <a:srgbClr val="12463C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5120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0" y="507492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5120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research fluency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778240" y="5074920"/>
            <a:ext cx="3108960" cy="777240"/>
          </a:xfrm>
          <a:prstGeom prst="rect">
            <a:avLst/>
          </a:prstGeom>
          <a:solidFill>
            <a:srgbClr val="132825"/>
          </a:solidFill>
          <a:ln w="9525">
            <a:solidFill>
              <a:srgbClr val="2042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51206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-- syntax + domain expertise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Per-course pilot pricing, expanding to per-seat institutional licenses.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1A2E2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 of courses, direct instructor relationships, feedback drives Phase 2 domain priority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1031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D8A72"/>
          </a:solidFill>
          <a:ln w="12700">
            <a:solidFill>
              <a:srgbClr val="E2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1A2E2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License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2788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/course /semester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329184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six-domain access, instructor dashboard, priced against the TA-hours it replaces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210312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  <a:effectLst>
            <a:outerShdw sx="100000" sy="100000" kx="0" ky="0" algn="bl" rotWithShape="0" blurRad="127000" dist="38100" dir="5400000">
              <a:srgbClr val="1A2E2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0" y="27889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 /dept /year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329184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 or university-wide, admin controls, the target once usage data picks the flagship domain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pricing based on comparable TA-hour and campus ed-tech license costs; not finalized.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F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proof is done. Market proof is in motion.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947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GitHub repo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BRENDA/KEGG scraper + simulation engine, CI running, 382 tests passing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2A42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validation outreach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underway to domain-expert faculty for pilot validation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1D8A7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50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0507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tier architecture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Six-domain execution model (browser-only, hybrid, server-assist) decided and documented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2A42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51023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pilot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for Phase 3 of the build, ahead of a December MVP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Gated, not just dated -- MVP complete by December 2026.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94560"/>
            <a:ext cx="2606040" cy="594360"/>
          </a:xfrm>
          <a:prstGeom prst="rect">
            <a:avLst/>
          </a:prstGeom>
          <a:solidFill>
            <a:srgbClr val="1D8A7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- Aug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&amp; Validation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validation loops, decide the compute story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2194560"/>
            <a:ext cx="2606040" cy="594360"/>
          </a:xfrm>
          <a:prstGeom prst="rect">
            <a:avLst/>
          </a:prstGeom>
          <a:solidFill>
            <a:srgbClr val="1D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194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- Sep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One Domain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trust-layer chain working end-to-end on kinetics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94560"/>
            <a:ext cx="2606040" cy="594360"/>
          </a:xfrm>
          <a:prstGeom prst="rect">
            <a:avLst/>
          </a:prstGeom>
          <a:solidFill>
            <a:srgbClr val="1D8A72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194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- Nov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to Six Domains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pipeline, five more configurations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69680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2194560"/>
            <a:ext cx="2606040" cy="594360"/>
          </a:xfrm>
          <a:prstGeom prst="rect">
            <a:avLst/>
          </a:prstGeom>
          <a:solidFill>
            <a:srgbClr val="1D8A72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21945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- Dec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098280" y="32461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Paying Pilot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98280" y="38862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D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course, real students, hardening for scale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F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expertise and execution, in the same room.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20240" y="2103120"/>
            <a:ext cx="1005840" cy="1005840"/>
          </a:xfrm>
          <a:prstGeom prst="ellipse">
            <a:avLst/>
          </a:prstGeom>
          <a:solidFill>
            <a:srgbClr val="12463C"/>
          </a:solidFill>
          <a:ln w="19050">
            <a:solidFill>
              <a:srgbClr val="1D8A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Smyan Reddy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Domain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validation loops with domain experts; owns product direction and brand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2103120"/>
            <a:ext cx="1005840" cy="1005840"/>
          </a:xfrm>
          <a:prstGeom prst="ellipse">
            <a:avLst/>
          </a:prstGeom>
          <a:solidFill>
            <a:srgbClr val="12463C"/>
          </a:solidFill>
          <a:ln w="19050">
            <a:solidFill>
              <a:srgbClr val="1D8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Shanmuka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Lead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2628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full agent trust chain -- model routing, hallucination-check, critique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35440" y="2103120"/>
            <a:ext cx="1005840" cy="1005840"/>
          </a:xfrm>
          <a:prstGeom prst="ellipse">
            <a:avLst/>
          </a:prstGeom>
          <a:solidFill>
            <a:srgbClr val="12463C"/>
          </a:solidFill>
          <a:ln w="19050">
            <a:solidFill>
              <a:srgbClr val="1D8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55280" y="3291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Infra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open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8388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FastAPI, Postgres/Redis, and the in-browser notebook execution environment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5FD9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$2,000 </a:t>
            </a:r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CEF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carry the team through Phase 0-1 while the December MVP comes together.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12463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535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APIs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383280" y="295351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LiteLLM/model inference costs and literature-source API access through Phase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1246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221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outreach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38221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incentives/logistics for the first faculty pilot conversations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12463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90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to the next raise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83280" y="469087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3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build far enough to bring a priced seed round real traction to show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greatest scientific computing tool a classroom has ever had.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2026-07-22T16:52:46Z</dcterms:created>
  <dcterms:modified xsi:type="dcterms:W3CDTF">2026-07-22T16:52:46Z</dcterms:modified>
</cp:coreProperties>
</file>