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38344" y="548640"/>
            <a:ext cx="2103120" cy="1444752"/>
          </a:xfrm>
          <a:prstGeom prst="roundRect">
            <a:avLst>
              <a:gd name="adj" fmla="val 9494"/>
            </a:avLst>
          </a:prstGeom>
          <a:solidFill>
            <a:srgbClr val="F7F9F8"/>
          </a:solidFill>
          <a:ln/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pic>
        <p:nvPicPr>
          <p:cNvPr id="3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75504" y="685800"/>
            <a:ext cx="1828800" cy="11704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3246120"/>
            <a:ext cx="121889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spc="100" kern="0" dirty="0">
                <a:solidFill>
                  <a:srgbClr val="ECEFE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terrium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0" y="416052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9C6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agent pipeline that </a:t>
            </a:r>
            <a:pPr algn="ctr" indent="0" marL="0">
              <a:buNone/>
            </a:pPr>
            <a:r>
              <a:rPr lang="en-US" sz="2000" i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science.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0" y="612648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Pitch  |  July 2026  |  Smyan Reddy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Teaching labs are stuck between two bad options.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1206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  <a:effectLst>
            <a:outerShdw sx="100000" sy="100000" kx="0" ky="0" algn="bl" rotWithShape="0" blurRad="152400" dist="38100" dir="5400000">
              <a:srgbClr val="1A2E2B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60120" y="23774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Generic AI chat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0120" y="28803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ChatGPT/Claude answer confidently, cite nothing, and hallucinate constants a student has no way to check.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080760" y="2148840"/>
            <a:ext cx="51206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  <a:effectLst>
            <a:outerShdw sx="100000" sy="100000" kx="0" ky="0" algn="bl" rotWithShape="0" blurRad="152400" dist="38100" dir="5400000">
              <a:srgbClr val="1A2E2B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0" y="23774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Legacy simulation tools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00800" y="28803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COPASI, NEURON, GROMACS work, but need a install, a syntax manual, and a TA who already knows the software.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4800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0A1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result: </a:t>
            </a:r>
            <a:pPr indent="0" marL="0">
              <a:buNone/>
            </a:pPr>
            <a:r>
              <a:rPr lang="en-US" sz="1700" i="1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either get answers they can't trust, or tools they can't use.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F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a real question. Get a real, cited simulation.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C7D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Terrium resolves scientific parameters from the literature, runs the simulation in the browser, and shows every citation behind every number -- so a student asking “what's a typical Km for hexokinase” gets a real answer, checked, not guessed.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3063240"/>
            <a:ext cx="2560320" cy="2651760"/>
          </a:xfrm>
          <a:prstGeom prst="roundRect">
            <a:avLst>
              <a:gd name="adj" fmla="val 3571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68680" y="324612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FD9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68680" y="37947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68680" y="420624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question, no syntax to learn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37560" y="3063240"/>
            <a:ext cx="2560320" cy="2651760"/>
          </a:xfrm>
          <a:prstGeom prst="roundRect">
            <a:avLst>
              <a:gd name="adj" fmla="val 3571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566160" y="324612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FD9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566160" y="37947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566160" y="420624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Literature-backed parameters, not invented ones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35040" y="3063240"/>
            <a:ext cx="2560320" cy="2651760"/>
          </a:xfrm>
          <a:prstGeom prst="roundRect">
            <a:avLst>
              <a:gd name="adj" fmla="val 3571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263640" y="324612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FD9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263640" y="37947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263640" y="420624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model checks the first before anything ships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732520" y="3063240"/>
            <a:ext cx="2560320" cy="2651760"/>
          </a:xfrm>
          <a:prstGeom prst="roundRect">
            <a:avLst>
              <a:gd name="adj" fmla="val 3571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961120" y="324612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FD9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961120" y="37947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961120" y="420624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live in the browser -- no install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200400" y="416052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FD9B5"/>
                </a:solidFill>
              </a:rPr>
              <a:t>→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897880" y="416052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FD9B5"/>
                </a:solidFill>
              </a:rPr>
              <a:t>→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595360" y="416052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FD9B5"/>
                </a:solidFill>
              </a:rPr>
              <a:t>→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TRUST LAYER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answer passes through six checks before a student sees it.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actual product moat: a different model checks the first model's claim before it ships, using a different provider so the same blind spot can't pass itself.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35204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68680" y="2514600"/>
            <a:ext cx="384048" cy="384048"/>
          </a:xfrm>
          <a:prstGeom prst="ellipse">
            <a:avLst/>
          </a:prstGeom>
          <a:solidFill>
            <a:srgbClr val="1D8A72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8680" y="24963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487168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Model-Picker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68680" y="30632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which of the six domains the question belongs to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2286000"/>
            <a:ext cx="35204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572000" y="2514600"/>
            <a:ext cx="384048" cy="384048"/>
          </a:xfrm>
          <a:prstGeom prst="ellipse">
            <a:avLst/>
          </a:prstGeom>
          <a:solidFill>
            <a:srgbClr val="1D8A72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572000" y="24963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74920" y="2487168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572000" y="30632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Resolves the real parameter from BRENDA / KEGG / PubMed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46720" y="2286000"/>
            <a:ext cx="35204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275320" y="2514600"/>
            <a:ext cx="384048" cy="384048"/>
          </a:xfrm>
          <a:prstGeom prst="ellipse">
            <a:avLst/>
          </a:prstGeom>
          <a:solidFill>
            <a:srgbClr val="1D8A72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275320" y="24963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778240" y="2487168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Hallucination-Check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275320" y="30632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model re-verifies the citation actually supports the claim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343400"/>
            <a:ext cx="35204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68680" y="4572000"/>
            <a:ext cx="384048" cy="384048"/>
          </a:xfrm>
          <a:prstGeom prst="ellipse">
            <a:avLst/>
          </a:prstGeom>
          <a:solidFill>
            <a:srgbClr val="1D8A72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68680" y="45537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71600" y="4544568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Critique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868680" y="51206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the source's scope actually matches how it's being used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343400" y="4343400"/>
            <a:ext cx="35204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4572000" y="4572000"/>
            <a:ext cx="384048" cy="384048"/>
          </a:xfrm>
          <a:prstGeom prst="ellipse">
            <a:avLst/>
          </a:prstGeom>
          <a:solidFill>
            <a:srgbClr val="1D8A72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572000" y="45537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074920" y="4544568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Correctness-Verification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4572000" y="51206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Range-checks against known plausible bounds for that quantity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046720" y="4343400"/>
            <a:ext cx="35204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8275320" y="4572000"/>
            <a:ext cx="384048" cy="384048"/>
          </a:xfrm>
          <a:prstGeom prst="ellipse">
            <a:avLst/>
          </a:prstGeom>
          <a:solidFill>
            <a:srgbClr val="1D8A72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275320" y="45537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778240" y="4544568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8275320" y="51206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 the final answer -- forbidden from removing any flag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SCOPE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F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domains, one trust layer.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domain shares the same agent chain -- new domains are configuration, not new infrastructure.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237744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Enzyme Kinetics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288036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Michaelis-Menten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3566160"/>
            <a:ext cx="960120" cy="320040"/>
          </a:xfrm>
          <a:prstGeom prst="roundRect">
            <a:avLst>
              <a:gd name="adj" fmla="val 48571"/>
            </a:avLst>
          </a:prstGeom>
          <a:solidFill>
            <a:srgbClr val="0A1F1C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14400" y="3566160"/>
            <a:ext cx="960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43400" y="214884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17720" y="237744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17720" y="288036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 / SEIR modeling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17720" y="3566160"/>
            <a:ext cx="960120" cy="320040"/>
          </a:xfrm>
          <a:prstGeom prst="roundRect">
            <a:avLst>
              <a:gd name="adj" fmla="val 48571"/>
            </a:avLst>
          </a:prstGeom>
          <a:solidFill>
            <a:srgbClr val="0A1F1C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617720" y="3566160"/>
            <a:ext cx="960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46720" y="214884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321040" y="237744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 Amplification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321040" y="288036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growth models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321040" y="3566160"/>
            <a:ext cx="960120" cy="320040"/>
          </a:xfrm>
          <a:prstGeom prst="roundRect">
            <a:avLst>
              <a:gd name="adj" fmla="val 48571"/>
            </a:avLst>
          </a:prstGeom>
          <a:solidFill>
            <a:srgbClr val="0A1F1C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321040" y="3566160"/>
            <a:ext cx="960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" y="425196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14400" y="448056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14400" y="498348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simulation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14400" y="5669280"/>
            <a:ext cx="960120" cy="320040"/>
          </a:xfrm>
          <a:prstGeom prst="roundRect">
            <a:avLst>
              <a:gd name="adj" fmla="val 48571"/>
            </a:avLst>
          </a:prstGeom>
          <a:solidFill>
            <a:srgbClr val="0A1F1C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14400" y="5669280"/>
            <a:ext cx="960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43400" y="425196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617720" y="448056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Genetics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617720" y="498348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Hardy-Weinberg dynamics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617720" y="5669280"/>
            <a:ext cx="960120" cy="320040"/>
          </a:xfrm>
          <a:prstGeom prst="roundRect">
            <a:avLst>
              <a:gd name="adj" fmla="val 48571"/>
            </a:avLst>
          </a:prstGeom>
          <a:solidFill>
            <a:srgbClr val="0A1F1C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617720" y="5669280"/>
            <a:ext cx="960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046720" y="425196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8321040" y="448056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Dynamics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321040" y="498348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GROMACS setup-assist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321040" y="5669280"/>
            <a:ext cx="960120" cy="320040"/>
          </a:xfrm>
          <a:prstGeom prst="roundRect">
            <a:avLst>
              <a:gd name="adj" fmla="val 48571"/>
            </a:avLst>
          </a:prstGeom>
          <a:solidFill>
            <a:srgbClr val="0A1F1C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8321040" y="5669280"/>
            <a:ext cx="960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PROOF, NOT PROMISES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literature and simulation layers are already built and tested.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1D8A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2,344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passing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297680" y="21031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1D8A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13/13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4297680" y="30632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 scientific bugs caught by mutation testing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0" y="21031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E873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7955280" y="30632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trust-boundary bug found and fixed pre-launch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160520"/>
            <a:ext cx="1088136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14400" y="43434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“verified” actually means here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914400" y="47548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simulated number is checked against a closed-form analytic solution or an independent solver (scipy), not against itself. When the literature layer flagged a Km value as implausible but the simulation layer's bound didn't match it, that gap -- a real hole in the trust boundary -- was caught before launch, not after a student hit it.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CEF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pieces this needed didn't all exist two years ago.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1325880"/>
          </a:xfrm>
          <a:prstGeom prst="roundRect">
            <a:avLst>
              <a:gd name="adj" fmla="val 6897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14400" y="2084832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Multi-model orchestration is finally cheap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7D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different steps to different providers -- so one model can check another -- is only practical now that inference cost has fallen far enough to run six agents per question.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3429000"/>
            <a:ext cx="10881360" cy="1325880"/>
          </a:xfrm>
          <a:prstGeom prst="roundRect">
            <a:avLst>
              <a:gd name="adj" fmla="val 6897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14400" y="3593592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In-browser scientific computing matured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914400" y="397764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7D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Pyodide and WebAssembly make it realistic to run real ODE solvers client-side, removing the install/infrastructure burden that killed past classroom sim tools.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4937760"/>
            <a:ext cx="10881360" cy="1325880"/>
          </a:xfrm>
          <a:prstGeom prst="roundRect">
            <a:avLst>
              <a:gd name="adj" fmla="val 6897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14400" y="5102352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AI-in-the-classroom trust is the live debate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914400" y="548640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7D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Instructors are actively deciding how much to trust AI tools right now -- landing with a citation-checked, teaching-scoped product ahead of that decision matters.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Undergraduate STEM labs are the wedge, not the ceiling.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4206240" cy="4206240"/>
          </a:xfrm>
          <a:prstGeom prst="ellipse">
            <a:avLst/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737360" y="2926080"/>
            <a:ext cx="2926080" cy="2926080"/>
          </a:xfrm>
          <a:prstGeom prst="ellipse">
            <a:avLst/>
          </a:prstGeom>
          <a:solidFill>
            <a:srgbClr val="1D8A72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2514600" y="3703320"/>
            <a:ext cx="1737360" cy="1737360"/>
          </a:xfrm>
          <a:prstGeom prst="ellipse">
            <a:avLst/>
          </a:prstGeom>
          <a:solidFill>
            <a:srgbClr val="5FD9B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514600" y="4370832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406640" y="21488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8A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TAM   </a:t>
            </a:r>
            <a:pPr indent="0" marL="0">
              <a:buNone/>
            </a:pPr>
            <a:r>
              <a:rPr lang="en-US" sz="17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~$2.1B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406640" y="249631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STEM lab &amp; simulation software spend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06640" y="30632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8A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   </a:t>
            </a:r>
            <a:pPr indent="0" marL="0">
              <a:buNone/>
            </a:pPr>
            <a:r>
              <a:rPr lang="en-US" sz="17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~$180M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406640" y="341071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US/UK computational-lab courses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406640" y="39776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8A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   </a:t>
            </a:r>
            <a:pPr indent="0" marL="0">
              <a:buNone/>
            </a:pPr>
            <a:r>
              <a:rPr lang="en-US" sz="17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~$4-6M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406640" y="432511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Reachable via direct pilot outreach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617220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AA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our estimate from public university enrollment and ed-tech spending data; not third-party sourced.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JUST USE...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CEF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deliberately not competing where the giants already win.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920240" cy="777240"/>
          </a:xfrm>
          <a:prstGeom prst="rect">
            <a:avLst/>
          </a:prstGeom>
          <a:solidFill>
            <a:srgbClr val="0A1F1C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77240" y="2011680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60320" y="1965960"/>
            <a:ext cx="3108960" cy="777240"/>
          </a:xfrm>
          <a:prstGeom prst="rect">
            <a:avLst/>
          </a:prstGeom>
          <a:solidFill>
            <a:srgbClr val="0A1F1C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697480" y="201168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Terrium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0" y="1965960"/>
            <a:ext cx="3108960" cy="777240"/>
          </a:xfrm>
          <a:prstGeom prst="rect">
            <a:avLst/>
          </a:prstGeom>
          <a:solidFill>
            <a:srgbClr val="0A1F1C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806440" y="201168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Science / general AI research tools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778240" y="1965960"/>
            <a:ext cx="3108960" cy="777240"/>
          </a:xfrm>
          <a:prstGeom prst="rect">
            <a:avLst/>
          </a:prstGeom>
          <a:solidFill>
            <a:srgbClr val="0A1F1C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915400" y="201168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sim software (COPASI, GROMACS, NEURON)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2743200"/>
            <a:ext cx="1920240" cy="777240"/>
          </a:xfrm>
          <a:prstGeom prst="rect">
            <a:avLst/>
          </a:prstGeom>
          <a:solidFill>
            <a:srgbClr val="132825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77240" y="2788920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560320" y="2743200"/>
            <a:ext cx="3108960" cy="777240"/>
          </a:xfrm>
          <a:prstGeom prst="rect">
            <a:avLst/>
          </a:prstGeom>
          <a:solidFill>
            <a:srgbClr val="12463C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697480" y="278892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Undergrad teaching labs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0" y="2743200"/>
            <a:ext cx="3108960" cy="777240"/>
          </a:xfrm>
          <a:prstGeom prst="rect">
            <a:avLst/>
          </a:prstGeom>
          <a:solidFill>
            <a:srgbClr val="132825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806440" y="278892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Biopharma &amp; computational-bio researchers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778240" y="2743200"/>
            <a:ext cx="3108960" cy="777240"/>
          </a:xfrm>
          <a:prstGeom prst="rect">
            <a:avLst/>
          </a:prstGeom>
          <a:solidFill>
            <a:srgbClr val="132825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915400" y="278892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researchers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3520440"/>
            <a:ext cx="1920240" cy="777240"/>
          </a:xfrm>
          <a:prstGeom prst="rect">
            <a:avLst/>
          </a:prstGeom>
          <a:solidFill>
            <a:srgbClr val="132825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77240" y="3566160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2560320" y="3520440"/>
            <a:ext cx="3108960" cy="777240"/>
          </a:xfrm>
          <a:prstGeom prst="rect">
            <a:avLst/>
          </a:prstGeom>
          <a:solidFill>
            <a:srgbClr val="12463C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2697480" y="356616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in-browser, no install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0" y="3520440"/>
            <a:ext cx="3108960" cy="777240"/>
          </a:xfrm>
          <a:prstGeom prst="rect">
            <a:avLst/>
          </a:prstGeom>
          <a:solidFill>
            <a:srgbClr val="132825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806440" y="356616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your own lab infrastructure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778240" y="3520440"/>
            <a:ext cx="3108960" cy="777240"/>
          </a:xfrm>
          <a:prstGeom prst="rect">
            <a:avLst/>
          </a:prstGeom>
          <a:solidFill>
            <a:srgbClr val="132825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915400" y="356616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install + config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0080" y="4297680"/>
            <a:ext cx="1920240" cy="777240"/>
          </a:xfrm>
          <a:prstGeom prst="rect">
            <a:avLst/>
          </a:prstGeom>
          <a:solidFill>
            <a:srgbClr val="132825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77240" y="4343400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layer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2560320" y="4297680"/>
            <a:ext cx="3108960" cy="777240"/>
          </a:xfrm>
          <a:prstGeom prst="rect">
            <a:avLst/>
          </a:prstGeom>
          <a:solidFill>
            <a:srgbClr val="12463C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697480" y="434340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Built-in, citation-checked by design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669280" y="4297680"/>
            <a:ext cx="3108960" cy="777240"/>
          </a:xfrm>
          <a:prstGeom prst="rect">
            <a:avLst/>
          </a:prstGeom>
          <a:solidFill>
            <a:srgbClr val="132825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806440" y="434340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workbench, not classroom-scoped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8778240" y="4297680"/>
            <a:ext cx="3108960" cy="777240"/>
          </a:xfrm>
          <a:prstGeom prst="rect">
            <a:avLst/>
          </a:prstGeom>
          <a:solidFill>
            <a:srgbClr val="132825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8915400" y="434340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-- correctness is on the user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40080" y="5074920"/>
            <a:ext cx="1920240" cy="777240"/>
          </a:xfrm>
          <a:prstGeom prst="rect">
            <a:avLst/>
          </a:prstGeom>
          <a:solidFill>
            <a:srgbClr val="132825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777240" y="5120640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curve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2560320" y="5074920"/>
            <a:ext cx="3108960" cy="777240"/>
          </a:xfrm>
          <a:prstGeom prst="rect">
            <a:avLst/>
          </a:prstGeom>
          <a:solidFill>
            <a:srgbClr val="12463C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2697480" y="512064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questions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5669280" y="5074920"/>
            <a:ext cx="3108960" cy="777240"/>
          </a:xfrm>
          <a:prstGeom prst="rect">
            <a:avLst/>
          </a:prstGeom>
          <a:solidFill>
            <a:srgbClr val="132825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5806440" y="512064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Assumes research fluency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8778240" y="5074920"/>
            <a:ext cx="3108960" cy="777240"/>
          </a:xfrm>
          <a:prstGeom prst="rect">
            <a:avLst/>
          </a:prstGeom>
          <a:solidFill>
            <a:srgbClr val="132825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8915400" y="512064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Steep -- syntax + domain expertise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Per-course pilot pricing, expanding to per-seat institutional licenses.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42900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  <a:effectLst>
            <a:outerShdw sx="100000" sy="100000" kx="0" ky="0" algn="bl" rotWithShape="0" blurRad="127000" dist="38100" dir="5400000">
              <a:srgbClr val="1A2E2B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14400" y="233172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2788920"/>
            <a:ext cx="2880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3291840"/>
            <a:ext cx="28803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cohort of courses, direct instructor relationships, feedback drives Phase 2 domain priority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97680" y="2103120"/>
            <a:ext cx="3429000" cy="3291840"/>
          </a:xfrm>
          <a:prstGeom prst="roundRect">
            <a:avLst>
              <a:gd name="adj" fmla="val 2778"/>
            </a:avLst>
          </a:prstGeom>
          <a:solidFill>
            <a:srgbClr val="1D8A72"/>
          </a:solidFill>
          <a:ln w="12700">
            <a:solidFill>
              <a:srgbClr val="E2E6E5"/>
            </a:solidFill>
            <a:prstDash val="solid"/>
          </a:ln>
          <a:effectLst>
            <a:outerShdw sx="100000" sy="100000" kx="0" ky="0" algn="bl" rotWithShape="0" blurRad="127000" dist="38100" dir="5400000">
              <a:srgbClr val="1A2E2B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233172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License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0" y="2788920"/>
            <a:ext cx="2880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$299 /course /semester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3291840"/>
            <a:ext cx="28803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5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six-domain access, instructor dashboard, priced against the TA-hours it replaces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955280" y="2103120"/>
            <a:ext cx="342900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  <a:effectLst>
            <a:outerShdw sx="100000" sy="100000" kx="0" ky="0" algn="bl" rotWithShape="0" blurRad="127000" dist="38100" dir="5400000">
              <a:srgbClr val="1A2E2B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229600" y="233172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Institutional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8229600" y="2788920"/>
            <a:ext cx="2880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$2,500 /dept /year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29600" y="3291840"/>
            <a:ext cx="28803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Department- or university-wide, admin controls, the target once usage data picks the flagship domain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562356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pricing based on comparable TA-hour and campus ed-tech license costs; not finalized.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CEF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proof is done. Market proof is in motion.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02920" cy="502920"/>
          </a:xfrm>
          <a:prstGeom prst="ellipse">
            <a:avLst/>
          </a:prstGeom>
          <a:solidFill>
            <a:srgbClr val="1D8A72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9476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194767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GitHub repo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371600" y="233172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BRENDA/KEGG scraper + simulation engine, CI running, 2,344 tests passing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3017520"/>
            <a:ext cx="502920" cy="502920"/>
          </a:xfrm>
          <a:prstGeom prst="ellipse">
            <a:avLst/>
          </a:prstGeom>
          <a:solidFill>
            <a:srgbClr val="2A423C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9992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299923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validation outreach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371600" y="338328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Outreach underway to domain-expert faculty for pilot validation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4069080"/>
            <a:ext cx="502920" cy="502920"/>
          </a:xfrm>
          <a:prstGeom prst="ellipse">
            <a:avLst/>
          </a:prstGeom>
          <a:solidFill>
            <a:srgbClr val="1D8A72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" y="405079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05079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&amp; tier architecture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371600" y="443484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Six-domain execution model (browser-only, hybrid, server-assist) decided and documented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5120640"/>
            <a:ext cx="502920" cy="502920"/>
          </a:xfrm>
          <a:prstGeom prst="ellipse">
            <a:avLst/>
          </a:prstGeom>
          <a:solidFill>
            <a:srgbClr val="2A423C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51023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371600" y="510235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paying pilot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371600" y="548640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for Phase 3 of the build, ahead of a December MVP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Gated, not just dated -- MVP complete by December 2026.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40080" y="2194560"/>
            <a:ext cx="2606040" cy="594360"/>
          </a:xfrm>
          <a:prstGeom prst="rect">
            <a:avLst/>
          </a:prstGeom>
          <a:solidFill>
            <a:srgbClr val="1D8A72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2194560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292608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- Aug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68680" y="32461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 &amp; Validation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8680" y="3886200"/>
            <a:ext cx="2148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validation loops, decide the compute story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83280" y="219456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383280" y="2194560"/>
            <a:ext cx="2606040" cy="594360"/>
          </a:xfrm>
          <a:prstGeom prst="rect">
            <a:avLst/>
          </a:prstGeom>
          <a:solidFill>
            <a:srgbClr val="1D8A72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383280" y="2194560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11880" y="292608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 - Sep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611880" y="32461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 One Domain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11880" y="3886200"/>
            <a:ext cx="2148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trust-layer chain working end-to-end on kinetics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26480" y="219456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126480" y="2194560"/>
            <a:ext cx="2606040" cy="594360"/>
          </a:xfrm>
          <a:prstGeom prst="rect">
            <a:avLst/>
          </a:prstGeom>
          <a:solidFill>
            <a:srgbClr val="1D8A72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126480" y="2194560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55080" y="292608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 - Nov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355080" y="32461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Expand to Six Domains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355080" y="3886200"/>
            <a:ext cx="2148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pipeline, five more configurations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869680" y="219456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8869680" y="2194560"/>
            <a:ext cx="2606040" cy="594360"/>
          </a:xfrm>
          <a:prstGeom prst="rect">
            <a:avLst/>
          </a:prstGeom>
          <a:solidFill>
            <a:srgbClr val="1D8A72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869680" y="2194560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098280" y="292608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- Dec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9098280" y="32461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Paying Pilot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098280" y="3886200"/>
            <a:ext cx="2148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course, real students, hardening for scale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CEF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 expertise and execution, in the same room.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920240" y="2103120"/>
            <a:ext cx="1005840" cy="1005840"/>
          </a:xfrm>
          <a:prstGeom prst="ellipse">
            <a:avLst/>
          </a:prstGeom>
          <a:solidFill>
            <a:srgbClr val="12463C"/>
          </a:solidFill>
          <a:ln w="19050">
            <a:solidFill>
              <a:srgbClr val="1D8A72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920240" y="210312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FD9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32918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Smyan Reddy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365760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&amp; Domain Lead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68680" y="4114800"/>
            <a:ext cx="2926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validation loops with domain experts; owns product direction and brand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577840" y="2103120"/>
            <a:ext cx="1005840" cy="1005840"/>
          </a:xfrm>
          <a:prstGeom prst="ellipse">
            <a:avLst/>
          </a:prstGeom>
          <a:solidFill>
            <a:srgbClr val="12463C"/>
          </a:solidFill>
          <a:ln w="19050">
            <a:solidFill>
              <a:srgbClr val="1D8A72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577840" y="210312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FD9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297680" y="32918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Shanmuka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297680" y="365760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AI/ML Lead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26280" y="4114800"/>
            <a:ext cx="2926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the full agent trust chain -- model routing, hallucination-check, critique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235440" y="2103120"/>
            <a:ext cx="1005840" cy="1005840"/>
          </a:xfrm>
          <a:prstGeom prst="ellipse">
            <a:avLst/>
          </a:prstGeom>
          <a:solidFill>
            <a:srgbClr val="12463C"/>
          </a:solidFill>
          <a:ln w="19050">
            <a:solidFill>
              <a:srgbClr val="1D8A72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235440" y="210312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FD9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955280" y="32918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/ Infra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955280" y="365760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open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183880" y="4114800"/>
            <a:ext cx="2926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FastAPI, Postgres/Redis, and the in-browser notebook execution environment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5FD9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$2,000 </a:t>
            </a:r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ECEF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carry the team through Phase 0-1 while the December MVP comes together.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880360"/>
            <a:ext cx="10515600" cy="685800"/>
          </a:xfrm>
          <a:prstGeom prst="roundRect">
            <a:avLst>
              <a:gd name="adj" fmla="val 10667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14400" y="2953512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&amp; APIs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3383280" y="2953512"/>
            <a:ext cx="7589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3DE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LiteLLM/model inference costs and literature-source API access through Phase 1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749040"/>
            <a:ext cx="10515600" cy="685800"/>
          </a:xfrm>
          <a:prstGeom prst="roundRect">
            <a:avLst>
              <a:gd name="adj" fmla="val 10667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14400" y="3822192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outreach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383280" y="3822192"/>
            <a:ext cx="7589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3DE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incentives/logistics for the first faculty pilot conversations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4617720"/>
            <a:ext cx="10515600" cy="685800"/>
          </a:xfrm>
          <a:prstGeom prst="roundRect">
            <a:avLst>
              <a:gd name="adj" fmla="val 10667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14400" y="4690872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Runway to the next raise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83280" y="4690872"/>
            <a:ext cx="7589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3DE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the build far enough to bring a priced seed round real traction to show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598932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FA3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build the greatest scientific computing tool a classroom has ever had.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2026-07-22T16:52:46Z</dcterms:created>
  <dcterms:modified xsi:type="dcterms:W3CDTF">2026-07-22T16:52:46Z</dcterms:modified>
</cp:coreProperties>
</file>